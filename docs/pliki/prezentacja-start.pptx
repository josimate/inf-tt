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6356350"/>
            <a:ext cx="3792875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6356350"/>
            <a:ext cx="51474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50" y="6356350"/>
            <a:ext cx="379287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274638"/>
            <a:ext cx="14629667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1600200"/>
            <a:ext cx="14629667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6356350"/>
            <a:ext cx="3792875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6356350"/>
            <a:ext cx="51474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50" y="6356350"/>
            <a:ext cx="379287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6356350"/>
            <a:ext cx="3792875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6356350"/>
            <a:ext cx="51474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50" y="6356350"/>
            <a:ext cx="379287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274638"/>
            <a:ext cx="14629667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6356350"/>
            <a:ext cx="3792875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6356350"/>
            <a:ext cx="51474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50" y="6356350"/>
            <a:ext cx="379287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274638"/>
            <a:ext cx="14629667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6356350"/>
            <a:ext cx="3792875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6356350"/>
            <a:ext cx="51474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50" y="6356350"/>
            <a:ext cx="379287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274638"/>
            <a:ext cx="14629667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6356350"/>
            <a:ext cx="3792875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6356350"/>
            <a:ext cx="51474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50" y="6356350"/>
            <a:ext cx="379287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6356350"/>
            <a:ext cx="3792875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6356350"/>
            <a:ext cx="51474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50" y="6356350"/>
            <a:ext cx="379287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6356350"/>
            <a:ext cx="3792875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6356350"/>
            <a:ext cx="51474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50" y="6356350"/>
            <a:ext cx="379287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6356350"/>
            <a:ext cx="3792875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6356350"/>
            <a:ext cx="51474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50" y="6356350"/>
            <a:ext cx="379287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274638"/>
            <a:ext cx="14629667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1600200"/>
            <a:ext cx="14629667" cy="45259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6356350"/>
            <a:ext cx="3792875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6356350"/>
            <a:ext cx="51474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50" y="6356350"/>
            <a:ext cx="379287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6356350"/>
            <a:ext cx="3792875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6356350"/>
            <a:ext cx="51474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50" y="6356350"/>
            <a:ext cx="379287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0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 b="1">
                <a:solidFill>
                  <a:srgbClr val="FFFF00"/>
                </a:solidFill>
                <a:latin typeface="Comic Sans MS"/>
              </a:rPr>
              <a:t>RAPORT Z PRZEGLĄDU SIECI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3000">
                <a:solidFill>
                  <a:srgbClr val="00FFFF"/>
                </a:solidFill>
                <a:latin typeface="Impact"/>
              </a:rPr>
              <a:t>w pracowni nr 14</a:t>
            </a:r>
          </a:p>
          <a:p>
            <a:r>
              <a:rPr sz="3000">
                <a:solidFill>
                  <a:srgbClr val="00FFFF"/>
                </a:solidFill>
                <a:latin typeface="Impact"/>
              </a:rPr>
              <a:t>zespół 1TT · październik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Wprowadzenie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>
                <a:latin typeface="Times New Roman"/>
              </a:rPr>
              <a:t>Pracownia nr 14 służy do zajęć z informatyki i przedmiotów zawodowych. W ciągu tygodnia korzysta z niej kilkanaście grup, a każda lekcja zaczyna się od logowania do sieci i pobrania materiałów z serwera szkoły. Na początku roku szkolnego nauczyciele zgłaszali, że część stanowisk łączy się z internetem z opóźnieniem, a na dwóch nie działa drukowanie. Celem przeglądu było ustalenie, jak zbudowana jest sieć w pracowni, sprawdzenie łączności każdego stanowiska i wskazanie usterek, które da się usunąć bez dużych nakładów. Pomiary wykonano w dniach od 29 września do 3 października 2026 r. poleceniami ipconfig, ping, tracert i nslookup.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C8C8C8"/>
                </a:solidFill>
                <a:latin typeface="Georgia"/>
              </a:rPr>
              <a:t>Adresacja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>
                <a:solidFill>
                  <a:srgbClr val="D7D7C8"/>
                </a:solidFill>
                <a:latin typeface="Georgia"/>
              </a:rPr>
              <a:t>podsieć: 10.14.0.0/24</a:t>
            </a:r>
          </a:p>
          <a:p>
            <a:r>
              <a:rPr sz="2800">
                <a:solidFill>
                  <a:srgbClr val="D7D7C8"/>
                </a:solidFill>
                <a:latin typeface="Georgia"/>
              </a:rPr>
              <a:t>brama domyślna: 10.14.0.1</a:t>
            </a:r>
          </a:p>
          <a:p>
            <a:r>
              <a:rPr sz="2800">
                <a:solidFill>
                  <a:srgbClr val="D7D7C8"/>
                </a:solidFill>
                <a:latin typeface="Georgia"/>
              </a:rPr>
              <a:t>drukarka: 10.14.0.250 (adres stały)</a:t>
            </a:r>
          </a:p>
          <a:p>
            <a:r>
              <a:rPr sz="2800">
                <a:solidFill>
                  <a:srgbClr val="D7D7C8"/>
                </a:solidFill>
                <a:latin typeface="Georgia"/>
              </a:rPr>
              <a:t>stanowiska: adresy z serwera DHCP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 Black"/>
              </a:rPr>
              <a:t>Jak sprawdzaliśmy łączność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Arial"/>
              </a:rPr>
              <a:t>pętla zwrotna 127.0.0.1</a:t>
            </a:r>
          </a:p>
          <a:p>
            <a:r>
              <a:rPr sz="2400">
                <a:latin typeface="Arial"/>
              </a:rPr>
              <a:t>brama domyślna 10.14.0.1</a:t>
            </a:r>
          </a:p>
          <a:p>
            <a:r>
              <a:rPr sz="2400">
                <a:latin typeface="Arial"/>
              </a:rPr>
              <a:t>adres zewnętrzny 1.1.1.1</a:t>
            </a:r>
          </a:p>
          <a:p>
            <a:r>
              <a:rPr sz="2400">
                <a:latin typeface="Arial"/>
              </a:rPr>
              <a:t>nazwa domenowa, np. pceikz.pl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ourier New"/>
              </a:rPr>
              <a:t>Obciążenie łącza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828800"/>
          <a:ext cx="1106424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605"/>
                <a:gridCol w="1580605"/>
                <a:gridCol w="1580605"/>
                <a:gridCol w="1580605"/>
                <a:gridCol w="1580605"/>
                <a:gridCol w="1580605"/>
                <a:gridCol w="1580610"/>
              </a:tblGrid>
              <a:tr h="640080">
                <a:tc>
                  <a:txBody>
                    <a:bodyPr/>
                    <a:lstStyle/>
                    <a:p>
                      <a:r>
                        <a:rPr sz="1400"/>
                        <a:t>8:00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11:00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12:00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13:00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14:00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/>
                        <a:t>12 %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71 %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83 %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29 %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